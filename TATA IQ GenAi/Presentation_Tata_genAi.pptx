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3" r:id="rId4"/>
    <p:sldId id="264" r:id="rId5"/>
    <p:sldId id="259" r:id="rId6"/>
    <p:sldId id="260" r:id="rId7"/>
    <p:sldId id="261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Slab" panose="020F0502020204030204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 varScale="1">
        <p:scale>
          <a:sx n="59" d="100"/>
          <a:sy n="59" d="100"/>
        </p:scale>
        <p:origin x="11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050673D5-8F52-6AFA-0D8C-9B3AA3C3A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>
            <a:extLst>
              <a:ext uri="{FF2B5EF4-FFF2-40B4-BE49-F238E27FC236}">
                <a16:creationId xmlns:a16="http://schemas.microsoft.com/office/drawing/2014/main" id="{1829D306-239E-A604-E5DD-9DEFE80AD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>
            <a:extLst>
              <a:ext uri="{FF2B5EF4-FFF2-40B4-BE49-F238E27FC236}">
                <a16:creationId xmlns:a16="http://schemas.microsoft.com/office/drawing/2014/main" id="{EA6D8CC3-4647-F331-A10D-6FFED46FFD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  <p:extLst>
      <p:ext uri="{BB962C8B-B14F-4D97-AF65-F5344CB8AC3E}">
        <p14:creationId xmlns:p14="http://schemas.microsoft.com/office/powerpoint/2010/main" val="1790855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E622E3E2-A044-6671-1B36-14AED96A5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>
            <a:extLst>
              <a:ext uri="{FF2B5EF4-FFF2-40B4-BE49-F238E27FC236}">
                <a16:creationId xmlns:a16="http://schemas.microsoft.com/office/drawing/2014/main" id="{E3A34F54-6F6C-D85B-3FBE-F8DC76A01B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>
            <a:extLst>
              <a:ext uri="{FF2B5EF4-FFF2-40B4-BE49-F238E27FC236}">
                <a16:creationId xmlns:a16="http://schemas.microsoft.com/office/drawing/2014/main" id="{2944A4E0-90D4-50AF-7113-CE920E2113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  <p:extLst>
      <p:ext uri="{BB962C8B-B14F-4D97-AF65-F5344CB8AC3E}">
        <p14:creationId xmlns:p14="http://schemas.microsoft.com/office/powerpoint/2010/main" val="2086118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GB" sz="1600" b="1" dirty="0"/>
              <a:t>Inputs</a:t>
            </a:r>
            <a:r>
              <a:rPr lang="en-GB" sz="1600" dirty="0"/>
              <a:t>: </a:t>
            </a:r>
          </a:p>
          <a:p>
            <a:r>
              <a:rPr lang="en-US" sz="1600" dirty="0"/>
              <a:t>Customer demographic data (e.g., age, location, employment status)</a:t>
            </a:r>
          </a:p>
          <a:p>
            <a:r>
              <a:rPr lang="en-US" sz="1600" dirty="0"/>
              <a:t>Financial data (e.g., income, credit score, credit utilization, debt-to-income ratio)</a:t>
            </a:r>
          </a:p>
          <a:p>
            <a:r>
              <a:rPr lang="en-US" sz="1600" dirty="0"/>
              <a:t>Behavioral data (e.g., missed/late payment history, account tenure, card type)</a:t>
            </a:r>
          </a:p>
          <a:p>
            <a:r>
              <a:rPr lang="en-US" sz="1600" dirty="0"/>
              <a:t>Additional engineered features (e.g., </a:t>
            </a:r>
            <a:r>
              <a:rPr lang="en-US" sz="1600" dirty="0" err="1"/>
              <a:t>Total_Missed_Late_Payments</a:t>
            </a:r>
            <a:r>
              <a:rPr lang="en-US" sz="1600" dirty="0"/>
              <a:t>)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GB" sz="1600" b="1" dirty="0"/>
              <a:t>Decision Logic</a:t>
            </a:r>
            <a:r>
              <a:rPr lang="en-GB" sz="1600" dirty="0"/>
              <a:t>:</a:t>
            </a:r>
          </a:p>
          <a:p>
            <a:r>
              <a:rPr lang="en-IN" sz="1600" dirty="0" err="1"/>
              <a:t>LightGBM</a:t>
            </a:r>
            <a:r>
              <a:rPr lang="en-IN" sz="1600" dirty="0"/>
              <a:t>-based predictive model estimates delinquency risk using historical patterns</a:t>
            </a:r>
          </a:p>
          <a:p>
            <a:r>
              <a:rPr lang="en-IN" sz="1600" dirty="0"/>
              <a:t>GenAI assists in summarizing behavioural trends and enhancing feature interpretation</a:t>
            </a:r>
          </a:p>
          <a:p>
            <a:r>
              <a:rPr lang="en-IN" sz="1600" dirty="0"/>
              <a:t>Business logic layer categorizes customers into risk segments for intervention</a:t>
            </a:r>
          </a:p>
          <a:p>
            <a:pPr marL="114300" indent="0"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0028BEBA-BE9B-05DD-896D-AF19D9F2F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13EF1A29-3CA8-C386-3D05-DE758E27AE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System Works</a:t>
            </a:r>
            <a:endParaRPr dirty="0"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168E8FCC-D131-83B1-D6CF-59579EA470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GB" sz="1600" b="1" dirty="0"/>
              <a:t>Actions</a:t>
            </a:r>
            <a:r>
              <a:rPr lang="en-GB" sz="1600" dirty="0"/>
              <a:t>: </a:t>
            </a:r>
          </a:p>
          <a:p>
            <a:r>
              <a:rPr lang="en-US" sz="1600" dirty="0"/>
              <a:t>Low- to mid-risk: Automated reminders, personalized financial nudges via GenAI</a:t>
            </a:r>
          </a:p>
          <a:p>
            <a:r>
              <a:rPr lang="en-US" sz="1600" dirty="0"/>
              <a:t>High-risk: Pre-emptive hardship offers, routed through escalation protocol</a:t>
            </a:r>
          </a:p>
          <a:p>
            <a:r>
              <a:rPr lang="en-US" sz="1600" dirty="0"/>
              <a:t>Complex scenarios: Flagged for manual review by collections specialists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GB" sz="1600" b="1" dirty="0"/>
              <a:t>Learning Loop</a:t>
            </a:r>
            <a:r>
              <a:rPr lang="en-GB" sz="1600" dirty="0"/>
              <a:t>:</a:t>
            </a:r>
          </a:p>
          <a:p>
            <a:r>
              <a:rPr lang="en-US" sz="1600" dirty="0"/>
              <a:t>Model retrained periodically using feedback from real-world outcomes</a:t>
            </a:r>
          </a:p>
          <a:p>
            <a:r>
              <a:rPr lang="en-US" sz="1600" dirty="0"/>
              <a:t>A/B testing and continuous monitoring refine messaging, timing, and targeting</a:t>
            </a:r>
          </a:p>
          <a:p>
            <a:r>
              <a:rPr lang="en-US" sz="1600" dirty="0"/>
              <a:t>Synthetic data augmentation used for low-volume edge cases (validated for realism)</a:t>
            </a:r>
          </a:p>
          <a:p>
            <a:pPr marL="114300" indent="0"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22092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FD70AC3B-1BE1-F275-929B-73E90E442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98D67648-4AB5-808B-536F-C901F680E7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System Works- Visual Flow</a:t>
            </a:r>
            <a:endParaRPr dirty="0"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752233DE-E3D6-1680-466F-E03CABB28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IN" sz="1600" dirty="0"/>
              <a:t>AI-Driven Collections Workflow</a:t>
            </a:r>
          </a:p>
          <a:p>
            <a:pPr marL="114300" indent="0">
              <a:buNone/>
            </a:pPr>
            <a:r>
              <a:rPr lang="en-IN" sz="1600" b="1" dirty="0"/>
              <a:t>Workflow:</a:t>
            </a:r>
            <a:endParaRPr lang="en-IN" sz="1600" dirty="0"/>
          </a:p>
          <a:p>
            <a:r>
              <a:rPr lang="en-IN" sz="1600" b="1" dirty="0"/>
              <a:t>Data Collection</a:t>
            </a:r>
            <a:r>
              <a:rPr lang="en-IN" sz="1600" dirty="0"/>
              <a:t> → 2. </a:t>
            </a:r>
            <a:r>
              <a:rPr lang="en-IN" sz="1600" b="1" dirty="0"/>
              <a:t>Feature Engineering + GenAI Summarization</a:t>
            </a:r>
            <a:r>
              <a:rPr lang="en-IN" sz="1600" dirty="0"/>
              <a:t> → 3. </a:t>
            </a:r>
            <a:r>
              <a:rPr lang="en-IN" sz="1600" b="1" dirty="0"/>
              <a:t>Risk Prediction (</a:t>
            </a:r>
            <a:r>
              <a:rPr lang="en-IN" sz="1600" b="1" dirty="0" err="1"/>
              <a:t>LightGBM</a:t>
            </a:r>
            <a:r>
              <a:rPr lang="en-IN" sz="1600" b="1" dirty="0"/>
              <a:t>)</a:t>
            </a:r>
            <a:r>
              <a:rPr lang="en-IN" sz="1600" dirty="0"/>
              <a:t> → 4. </a:t>
            </a:r>
            <a:r>
              <a:rPr lang="en-IN" sz="1600" b="1" dirty="0"/>
              <a:t>Decision Layer (Business Rules + AI)</a:t>
            </a:r>
            <a:r>
              <a:rPr lang="en-IN" sz="1600" dirty="0"/>
              <a:t> → 5. </a:t>
            </a:r>
            <a:r>
              <a:rPr lang="en-IN" sz="1600" b="1" dirty="0"/>
              <a:t>Action Delivery</a:t>
            </a:r>
            <a:r>
              <a:rPr lang="en-IN" sz="1600" dirty="0"/>
              <a:t> → 6. </a:t>
            </a:r>
            <a:r>
              <a:rPr lang="en-IN" sz="1600" b="1" dirty="0"/>
              <a:t>Feedback &amp; Retraining</a:t>
            </a:r>
            <a:endParaRPr lang="en-IN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Example Scenario:</a:t>
            </a: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Input: Age 27, unemployed, Business card holder, missed 2 payments</a:t>
            </a:r>
          </a:p>
          <a:p>
            <a:pPr marL="114300" indent="0">
              <a:buNone/>
            </a:pPr>
            <a:r>
              <a:rPr lang="en-US" sz="1600" dirty="0"/>
              <a:t>Output: 85% delinquency risk</a:t>
            </a:r>
          </a:p>
          <a:p>
            <a:pPr marL="114300" indent="0">
              <a:buNone/>
            </a:pPr>
            <a:r>
              <a:rPr lang="en-US" sz="1600" dirty="0"/>
              <a:t>Action: Trigger SMS + hardship plan + human flag</a:t>
            </a:r>
          </a:p>
          <a:p>
            <a:pPr marL="114300" indent="0"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335700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A2A1C4-AD47-205D-C44B-DD18670A0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00" y="1482193"/>
            <a:ext cx="7497221" cy="30865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dirty="0"/>
              <a:t>Governance and Guardrails for Responsible AI</a:t>
            </a:r>
          </a:p>
          <a:p>
            <a:r>
              <a:rPr lang="en-US" sz="1600" b="1" dirty="0"/>
              <a:t>Fairness Audits:</a:t>
            </a:r>
            <a:r>
              <a:rPr lang="en-US" sz="1600" dirty="0"/>
              <a:t> Regular evaluations across demographic segments to detect and mitigate bias</a:t>
            </a:r>
          </a:p>
          <a:p>
            <a:r>
              <a:rPr lang="en-US" sz="1600" b="1" dirty="0"/>
              <a:t>Explainability:</a:t>
            </a:r>
            <a:r>
              <a:rPr lang="en-US" sz="1600" dirty="0"/>
              <a:t> SHAP value integration and GenAI-generated risk summaries for transparency</a:t>
            </a:r>
          </a:p>
          <a:p>
            <a:r>
              <a:rPr lang="en-US" sz="1600" b="1" dirty="0"/>
              <a:t>Regulatory Compliance:</a:t>
            </a:r>
            <a:r>
              <a:rPr lang="en-US" sz="1600" dirty="0"/>
              <a:t> Adherence to GDPR, ECOA, and RBI frameworks with audit-ready logs</a:t>
            </a:r>
          </a:p>
          <a:p>
            <a:r>
              <a:rPr lang="en-US" sz="1600" b="1" dirty="0"/>
              <a:t>Human-in-the-Loop:</a:t>
            </a:r>
            <a:r>
              <a:rPr lang="en-US" sz="1600" dirty="0"/>
              <a:t> Manual approval workflows for hardship triggers, legal notices, and disputes</a:t>
            </a:r>
          </a:p>
          <a:p>
            <a:r>
              <a:rPr lang="en-US" sz="1600" b="1" dirty="0"/>
              <a:t>Synthetic Data Controls:</a:t>
            </a:r>
            <a:r>
              <a:rPr lang="en-US" sz="1600" dirty="0"/>
              <a:t> Use restricted to exploratory testing, subject to statistical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dirty="0"/>
              <a:t>Business Value of the AI Collections System</a:t>
            </a:r>
          </a:p>
          <a:p>
            <a:pPr marL="114300" indent="0">
              <a:buNone/>
            </a:pPr>
            <a:r>
              <a:rPr lang="en-US" sz="1600" b="1" dirty="0"/>
              <a:t>Quantitative Impact:</a:t>
            </a:r>
            <a:endParaRPr lang="en-US" sz="1600" dirty="0"/>
          </a:p>
          <a:p>
            <a:r>
              <a:rPr lang="en-US" sz="1600" dirty="0"/>
              <a:t>20% reduction in delinquency rate through early, targeted outreach</a:t>
            </a:r>
          </a:p>
          <a:p>
            <a:r>
              <a:rPr lang="en-US" sz="1600" dirty="0"/>
              <a:t>25% increase in recovery rate due to better segmentation and messaging</a:t>
            </a:r>
          </a:p>
          <a:p>
            <a:r>
              <a:rPr lang="en-US" sz="1600" dirty="0"/>
              <a:t>30% reduction in manual effort via automation of routine tasks</a:t>
            </a:r>
          </a:p>
          <a:p>
            <a:r>
              <a:rPr lang="en-US" sz="1600" dirty="0"/>
              <a:t>Higher model performance via retraining (expected uplift in AUC &gt; 0.85)</a:t>
            </a:r>
          </a:p>
          <a:p>
            <a:pPr marL="114300" indent="0">
              <a:buNone/>
            </a:pPr>
            <a:r>
              <a:rPr lang="en-US" sz="1600" b="1" dirty="0"/>
              <a:t>Qualitative Impact:</a:t>
            </a:r>
            <a:endParaRPr lang="en-US" sz="1600" dirty="0"/>
          </a:p>
          <a:p>
            <a:r>
              <a:rPr lang="en-US" sz="1600" dirty="0"/>
              <a:t>Improved customer engagement via timely and personalized support</a:t>
            </a:r>
          </a:p>
          <a:p>
            <a:r>
              <a:rPr lang="en-US" sz="1600" dirty="0"/>
              <a:t>Greater trust and perceived fairness due to transparent decision-making</a:t>
            </a:r>
          </a:p>
          <a:p>
            <a:r>
              <a:rPr lang="en-US" sz="1600" dirty="0"/>
              <a:t>Compliance-ready system with ethical guardrails and auditability</a:t>
            </a:r>
          </a:p>
          <a:p>
            <a:r>
              <a:rPr lang="en-US" sz="1600" dirty="0"/>
              <a:t>Scalable framework that evolves with customer behavior and regulation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876</Words>
  <Application>Microsoft Office PowerPoint</Application>
  <PresentationFormat>On-screen Show (16:9)</PresentationFormat>
  <Paragraphs>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 Slab</vt:lpstr>
      <vt:lpstr>Roboto</vt:lpstr>
      <vt:lpstr>Arial</vt:lpstr>
      <vt:lpstr>Marina</vt:lpstr>
      <vt:lpstr>AI-Powered Collections Strategy</vt:lpstr>
      <vt:lpstr>How the System Works</vt:lpstr>
      <vt:lpstr>How the System Works</vt:lpstr>
      <vt:lpstr>How the System Works- Visual Flow</vt:lpstr>
      <vt:lpstr>Role of Agentic AI</vt:lpstr>
      <vt:lpstr>Responsible AI Guardrails</vt:lpstr>
      <vt:lpstr>Expected Business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abhishek arya</cp:lastModifiedBy>
  <cp:revision>3</cp:revision>
  <dcterms:modified xsi:type="dcterms:W3CDTF">2025-06-20T16:05:49Z</dcterms:modified>
</cp:coreProperties>
</file>